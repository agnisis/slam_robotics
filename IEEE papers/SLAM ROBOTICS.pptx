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2"/>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35" y="635"/>
            <a:ext cx="11276330" cy="2783840"/>
          </a:xfrm>
        </p:spPr>
        <p:txBody>
          <a:bodyPr/>
          <a:lstStyle/>
          <a:p>
            <a:r>
              <a:rPr lang="en-US" sz="5400" b="1" dirty="0">
                <a:solidFill>
                  <a:srgbClr val="00B0F0"/>
                </a:solidFill>
                <a:latin typeface="Times New Roman" panose="02020603050405020304" charset="0"/>
                <a:cs typeface="Times New Roman" panose="02020603050405020304" charset="0"/>
              </a:rPr>
              <a:t>SLAM ROBOTICS</a:t>
            </a:r>
            <a:endParaRPr lang="en-US" sz="5400" b="1" dirty="0">
              <a:solidFill>
                <a:srgbClr val="00B0F0"/>
              </a:solidFill>
              <a:latin typeface="Times New Roman" panose="02020603050405020304" charset="0"/>
              <a:cs typeface="Times New Roman" panose="02020603050405020304" charset="0"/>
            </a:endParaRPr>
          </a:p>
        </p:txBody>
      </p:sp>
      <p:sp>
        <p:nvSpPr>
          <p:cNvPr id="3" name="Subtitle 2"/>
          <p:cNvSpPr>
            <a:spLocks noGrp="1"/>
          </p:cNvSpPr>
          <p:nvPr>
            <p:ph type="subTitle" idx="1"/>
          </p:nvPr>
        </p:nvSpPr>
        <p:spPr>
          <a:xfrm>
            <a:off x="2063750" y="2185670"/>
            <a:ext cx="9218295" cy="2494280"/>
          </a:xfrm>
        </p:spPr>
        <p:txBody>
          <a:bodyPr/>
          <a:lstStyle/>
          <a:p>
            <a:r>
              <a:rPr lang="en-US" b="1">
                <a:ln w="13462">
                  <a:solidFill>
                    <a:schemeClr val="bg1"/>
                  </a:solidFill>
                  <a:prstDash val="solid"/>
                </a:ln>
                <a:solidFill>
                  <a:srgbClr val="00B050"/>
                </a:solidFill>
                <a:effectLst>
                  <a:outerShdw dist="38100" dir="2700000" algn="bl" rotWithShape="0">
                    <a:schemeClr val="accent5"/>
                  </a:outerShdw>
                </a:effectLst>
                <a:latin typeface="Times New Roman" panose="02020603050405020304" charset="0"/>
                <a:cs typeface="Times New Roman" panose="02020603050405020304" charset="0"/>
              </a:rPr>
              <a:t>NAVIGATION AND LOCALIZATION</a:t>
            </a:r>
            <a:endParaRPr lang="en-US" b="1">
              <a:ln w="13462">
                <a:solidFill>
                  <a:schemeClr val="bg1"/>
                </a:solidFill>
                <a:prstDash val="solid"/>
              </a:ln>
              <a:solidFill>
                <a:srgbClr val="00B050"/>
              </a:solidFill>
              <a:effectLst>
                <a:outerShdw dist="38100" dir="2700000" algn="bl" rotWithShape="0">
                  <a:schemeClr val="accent5"/>
                </a:outerShdw>
              </a:effectLst>
              <a:latin typeface="Times New Roman" panose="02020603050405020304" charset="0"/>
              <a:cs typeface="Times New Roman" panose="02020603050405020304" charset="0"/>
            </a:endParaRPr>
          </a:p>
        </p:txBody>
      </p:sp>
      <p:sp>
        <p:nvSpPr>
          <p:cNvPr id="4" name="Text Box 3"/>
          <p:cNvSpPr txBox="1"/>
          <p:nvPr/>
        </p:nvSpPr>
        <p:spPr>
          <a:xfrm>
            <a:off x="8625840" y="3206115"/>
            <a:ext cx="3342640" cy="2953385"/>
          </a:xfrm>
          <a:prstGeom prst="rect">
            <a:avLst/>
          </a:prstGeom>
          <a:noFill/>
        </p:spPr>
        <p:txBody>
          <a:bodyPr wrap="square" rtlCol="0">
            <a:spAutoFit/>
          </a:bodyPr>
          <a:p>
            <a:r>
              <a:rPr lang="en-US" sz="2000" b="1" u="sng">
                <a:gradFill>
                  <a:gsLst>
                    <a:gs pos="0">
                      <a:srgbClr val="E30000"/>
                    </a:gs>
                    <a:gs pos="100000">
                      <a:srgbClr val="760303"/>
                    </a:gs>
                  </a:gsLst>
                  <a:lin scaled="0"/>
                </a:gradFill>
              </a:rPr>
              <a:t>PROJECT STAGE -1</a:t>
            </a:r>
            <a:endParaRPr lang="en-US" sz="2000" b="1" u="sng">
              <a:gradFill>
                <a:gsLst>
                  <a:gs pos="0">
                    <a:srgbClr val="E30000"/>
                  </a:gs>
                  <a:gs pos="100000">
                    <a:srgbClr val="760303"/>
                  </a:gs>
                </a:gsLst>
                <a:lin scaled="0"/>
              </a:gradFill>
            </a:endParaRPr>
          </a:p>
          <a:p>
            <a:endParaRPr lang="en-US"/>
          </a:p>
          <a:p>
            <a:r>
              <a:rPr lang="en-US"/>
              <a:t>TEAM DETAILS:</a:t>
            </a:r>
            <a:endParaRPr lang="en-US"/>
          </a:p>
          <a:p>
            <a:endParaRPr lang="en-US"/>
          </a:p>
          <a:p>
            <a:r>
              <a:rPr lang="en-US" sz="1400"/>
              <a:t>AGNISIS DUTTA </a:t>
            </a:r>
            <a:endParaRPr lang="en-US" sz="1400"/>
          </a:p>
          <a:p>
            <a:r>
              <a:rPr lang="en-US" sz="1400"/>
              <a:t>ROLL-10800320053</a:t>
            </a:r>
            <a:endParaRPr lang="en-US" sz="1400"/>
          </a:p>
          <a:p>
            <a:endParaRPr lang="en-US" sz="1400"/>
          </a:p>
          <a:p>
            <a:r>
              <a:rPr lang="en-US" sz="1400"/>
              <a:t>SHILPI SEN </a:t>
            </a:r>
            <a:endParaRPr lang="en-US" sz="1400"/>
          </a:p>
          <a:p>
            <a:r>
              <a:rPr lang="en-US" sz="1400">
                <a:sym typeface="+mn-ea"/>
              </a:rPr>
              <a:t>ROLL-10800320053</a:t>
            </a:r>
            <a:endParaRPr lang="en-US" sz="1400"/>
          </a:p>
          <a:p>
            <a:endParaRPr lang="en-US" sz="1400"/>
          </a:p>
          <a:p>
            <a:endParaRPr lang="en-US" sz="1400"/>
          </a:p>
          <a:p>
            <a:r>
              <a:rPr lang="en-US" sz="1400"/>
              <a:t>ECE 4TH YEAR </a:t>
            </a:r>
            <a:endParaRPr 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u="sng">
                <a:ln/>
                <a:solidFill>
                  <a:srgbClr val="00B0F0"/>
                </a:solidFill>
                <a:effectLst>
                  <a:outerShdw blurRad="38100" dist="25400" dir="5400000" algn="ctr" rotWithShape="0">
                    <a:srgbClr val="6E747A">
                      <a:alpha val="43000"/>
                    </a:srgbClr>
                  </a:outerShdw>
                </a:effectLst>
              </a:rPr>
              <a:t>INTRODUCTION </a:t>
            </a:r>
            <a:endParaRPr lang="en-US" b="1" u="sng">
              <a:ln/>
              <a:solidFill>
                <a:srgbClr val="00B0F0"/>
              </a:solidFill>
              <a:effectLst>
                <a:outerShdw blurRad="38100" dist="25400" dir="5400000" algn="ctr" rotWithShape="0">
                  <a:srgbClr val="6E747A">
                    <a:alpha val="43000"/>
                  </a:srgbClr>
                </a:outerShdw>
              </a:effectLst>
            </a:endParaRPr>
          </a:p>
        </p:txBody>
      </p:sp>
      <p:sp>
        <p:nvSpPr>
          <p:cNvPr id="3" name="Content Placeholder 2"/>
          <p:cNvSpPr>
            <a:spLocks noGrp="1"/>
          </p:cNvSpPr>
          <p:nvPr>
            <p:ph idx="1"/>
          </p:nvPr>
        </p:nvSpPr>
        <p:spPr/>
        <p:txBody>
          <a:bodyPr/>
          <a:p>
            <a:r>
              <a:rPr lang="en-US" sz="2400">
                <a:solidFill>
                  <a:srgbClr val="00B050"/>
                </a:solidFill>
                <a:latin typeface="Times New Roman" panose="02020603050405020304" charset="0"/>
                <a:cs typeface="Times New Roman" panose="02020603050405020304" charset="0"/>
              </a:rPr>
              <a:t>SLAM</a:t>
            </a:r>
            <a:r>
              <a:rPr lang="en-US" sz="2400">
                <a:latin typeface="Times New Roman" panose="02020603050405020304" charset="0"/>
                <a:cs typeface="Times New Roman" panose="02020603050405020304" charset="0"/>
              </a:rPr>
              <a:t> (simultaneous localization and mapping) is a method used for autonomous vehicles that lets you build a map and localize your vehicle in that map at the same time. SLAM algorithms allow the vehicle to map out unknown environments. Engineers use the map information to carry out tasks such as path planning and obstacle avoidance.</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Popular approximate solution methods include the </a:t>
            </a:r>
            <a:r>
              <a:rPr lang="en-US" sz="2400">
                <a:solidFill>
                  <a:srgbClr val="00B050"/>
                </a:solidFill>
                <a:latin typeface="Times New Roman" panose="02020603050405020304" charset="0"/>
                <a:cs typeface="Times New Roman" panose="02020603050405020304" charset="0"/>
              </a:rPr>
              <a:t>particle filter, extended Kalman</a:t>
            </a:r>
            <a:r>
              <a:rPr lang="en-US" sz="2400">
                <a:solidFill>
                  <a:srgbClr val="00B0F0"/>
                </a:solidFill>
                <a:latin typeface="Times New Roman" panose="02020603050405020304" charset="0"/>
                <a:cs typeface="Times New Roman" panose="02020603050405020304" charset="0"/>
              </a:rPr>
              <a:t> </a:t>
            </a:r>
            <a:r>
              <a:rPr lang="en-US" sz="2400">
                <a:solidFill>
                  <a:srgbClr val="00B050"/>
                </a:solidFill>
                <a:latin typeface="Times New Roman" panose="02020603050405020304" charset="0"/>
                <a:cs typeface="Times New Roman" panose="02020603050405020304" charset="0"/>
              </a:rPr>
              <a:t>filter, covariance intersection, </a:t>
            </a:r>
            <a:r>
              <a:rPr lang="en-US" sz="2400">
                <a:latin typeface="Times New Roman" panose="02020603050405020304" charset="0"/>
                <a:cs typeface="Times New Roman" panose="02020603050405020304" charset="0"/>
              </a:rPr>
              <a:t>and </a:t>
            </a:r>
            <a:r>
              <a:rPr lang="en-US" sz="2400">
                <a:solidFill>
                  <a:srgbClr val="00B050"/>
                </a:solidFill>
                <a:latin typeface="Times New Roman" panose="02020603050405020304" charset="0"/>
                <a:cs typeface="Times New Roman" panose="02020603050405020304" charset="0"/>
              </a:rPr>
              <a:t>GraphSLAM</a:t>
            </a:r>
            <a:r>
              <a:rPr lang="en-US" sz="2400">
                <a:latin typeface="Times New Roman" panose="02020603050405020304" charset="0"/>
                <a:cs typeface="Times New Roman" panose="02020603050405020304" charset="0"/>
              </a:rPr>
              <a:t>. SLAM algorithms are based on concepts in computational geometry and computer vision, and are used in robot navigation, robotic mapping and odometry for virtual reality or augmented reality.</a:t>
            </a:r>
            <a:endParaRPr lang="en-US" sz="24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56870" y="464820"/>
            <a:ext cx="11225530" cy="6169660"/>
          </a:xfrm>
        </p:spPr>
        <p:txBody>
          <a:bodyPr/>
          <a:p>
            <a:pPr marL="0" indent="0">
              <a:buNone/>
            </a:pPr>
            <a:r>
              <a:rPr lang="en-US" sz="2000">
                <a:latin typeface="Times New Roman" panose="02020603050405020304" charset="0"/>
                <a:cs typeface="Times New Roman" panose="02020603050405020304" charset="0"/>
              </a:rPr>
              <a:t>Navigation and localization are fundamental concepts in robotics and related fields that involve determining the position and orientation of a robot within its environment, as well as planning and executing movements to reach specific goals. These concepts play a crucial role in enabling robots to operate autonomously and effectively interact with their</a:t>
            </a:r>
            <a:r>
              <a:rPr lang="en-US" sz="2400">
                <a:latin typeface="Times New Roman" panose="02020603050405020304" charset="0"/>
                <a:cs typeface="Times New Roman" panose="02020603050405020304" charset="0"/>
              </a:rPr>
              <a:t> </a:t>
            </a:r>
            <a:r>
              <a:rPr lang="en-US" sz="2000">
                <a:latin typeface="Times New Roman" panose="02020603050405020304" charset="0"/>
                <a:cs typeface="Times New Roman" panose="02020603050405020304" charset="0"/>
              </a:rPr>
              <a:t>surroundings.</a:t>
            </a:r>
            <a:endParaRPr lang="en-US" sz="2400">
              <a:latin typeface="Times New Roman" panose="02020603050405020304" charset="0"/>
              <a:cs typeface="Times New Roman" panose="02020603050405020304" charset="0"/>
            </a:endParaRPr>
          </a:p>
          <a:p>
            <a:endParaRPr lang="en-US" sz="1800">
              <a:latin typeface="Times New Roman" panose="02020603050405020304" charset="0"/>
              <a:cs typeface="Times New Roman" panose="02020603050405020304" charset="0"/>
            </a:endParaRPr>
          </a:p>
          <a:p>
            <a:r>
              <a:rPr lang="en-US" b="1" u="sng">
                <a:solidFill>
                  <a:srgbClr val="0070C0"/>
                </a:solidFill>
                <a:latin typeface="Times New Roman" panose="02020603050405020304" charset="0"/>
                <a:cs typeface="Times New Roman" panose="02020603050405020304" charset="0"/>
              </a:rPr>
              <a:t>Navigation</a:t>
            </a:r>
            <a:r>
              <a:rPr lang="en-US" sz="2400" b="1">
                <a:latin typeface="Times New Roman" panose="02020603050405020304" charset="0"/>
                <a:cs typeface="Times New Roman" panose="02020603050405020304" charset="0"/>
              </a:rPr>
              <a:t>:</a:t>
            </a:r>
            <a:endParaRPr lang="en-US" sz="2400" b="1">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Navigation refers to the process of planning and executing a robot's movement from one location to another while avoiding obstacles and adhering to specific objectives. It involves making decisions about the robot's path, speed, and direction to reach a desired destination. Navigation systems enable robots to move autonomously in complex and dynamic environments. Key aspects of navigation include:</a:t>
            </a:r>
            <a:endParaRPr lang="en-US" sz="1800">
              <a:latin typeface="Times New Roman" panose="02020603050405020304" charset="0"/>
              <a:cs typeface="Times New Roman" panose="02020603050405020304" charset="0"/>
            </a:endParaRPr>
          </a:p>
          <a:p>
            <a:endParaRPr lang="en-US" sz="1800">
              <a:latin typeface="Times New Roman" panose="02020603050405020304" charset="0"/>
              <a:cs typeface="Times New Roman" panose="02020603050405020304" charset="0"/>
            </a:endParaRPr>
          </a:p>
          <a:p>
            <a:r>
              <a:rPr lang="en-US" sz="1800" b="1">
                <a:latin typeface="Times New Roman" panose="02020603050405020304" charset="0"/>
                <a:cs typeface="Times New Roman" panose="02020603050405020304" charset="0"/>
              </a:rPr>
              <a:t>Path Planning</a:t>
            </a:r>
            <a:r>
              <a:rPr lang="en-US" sz="1800">
                <a:latin typeface="Times New Roman" panose="02020603050405020304" charset="0"/>
                <a:cs typeface="Times New Roman" panose="02020603050405020304" charset="0"/>
              </a:rPr>
              <a:t>: Generating a feasible and safe path from the robot's current location to its target while considering obstacles, constraints, and environmental factors.</a:t>
            </a:r>
            <a:endParaRPr lang="en-US" sz="1800">
              <a:latin typeface="Times New Roman" panose="02020603050405020304" charset="0"/>
              <a:cs typeface="Times New Roman" panose="02020603050405020304" charset="0"/>
            </a:endParaRPr>
          </a:p>
          <a:p>
            <a:r>
              <a:rPr lang="en-US" sz="1800" b="1">
                <a:latin typeface="Times New Roman" panose="02020603050405020304" charset="0"/>
                <a:cs typeface="Times New Roman" panose="02020603050405020304" charset="0"/>
              </a:rPr>
              <a:t>Obstacle Avoidance</a:t>
            </a:r>
            <a:r>
              <a:rPr lang="en-US" sz="1800">
                <a:latin typeface="Times New Roman" panose="02020603050405020304" charset="0"/>
                <a:cs typeface="Times New Roman" panose="02020603050405020304" charset="0"/>
              </a:rPr>
              <a:t>: Detecting and circumventing obstacles in the robot's path to prevent collisions and ensure safe traversal.</a:t>
            </a:r>
            <a:endParaRPr lang="en-US" sz="1800">
              <a:latin typeface="Times New Roman" panose="02020603050405020304" charset="0"/>
              <a:cs typeface="Times New Roman" panose="02020603050405020304" charset="0"/>
            </a:endParaRPr>
          </a:p>
          <a:p>
            <a:r>
              <a:rPr lang="en-US" sz="1800" b="1">
                <a:latin typeface="Times New Roman" panose="02020603050405020304" charset="0"/>
                <a:cs typeface="Times New Roman" panose="02020603050405020304" charset="0"/>
              </a:rPr>
              <a:t>Trajectory Tracking</a:t>
            </a:r>
            <a:r>
              <a:rPr lang="en-US" sz="1800">
                <a:latin typeface="Times New Roman" panose="02020603050405020304" charset="0"/>
                <a:cs typeface="Times New Roman" panose="02020603050405020304" charset="0"/>
              </a:rPr>
              <a:t>: Executing the planned path with precision, accounting for sensor uncertainties and external disturbances.</a:t>
            </a:r>
            <a:endParaRPr lang="en-US" sz="1800">
              <a:latin typeface="Times New Roman" panose="02020603050405020304" charset="0"/>
              <a:cs typeface="Times New Roman" panose="02020603050405020304" charset="0"/>
            </a:endParaRPr>
          </a:p>
          <a:p>
            <a:r>
              <a:rPr lang="en-US" sz="1800" b="1">
                <a:latin typeface="Times New Roman" panose="02020603050405020304" charset="0"/>
                <a:cs typeface="Times New Roman" panose="02020603050405020304" charset="0"/>
              </a:rPr>
              <a:t>Mapping</a:t>
            </a:r>
            <a:r>
              <a:rPr lang="en-US" sz="1800">
                <a:latin typeface="Times New Roman" panose="02020603050405020304" charset="0"/>
                <a:cs typeface="Times New Roman" panose="02020603050405020304" charset="0"/>
              </a:rPr>
              <a:t>: Building a representation of the environment, often referred to as a map, to aid in navigation and localization tasks.</a:t>
            </a:r>
            <a:endParaRPr lang="en-US" sz="1800">
              <a:latin typeface="Times New Roman" panose="02020603050405020304" charset="0"/>
              <a:cs typeface="Times New Roman" panose="02020603050405020304" charset="0"/>
            </a:endParaRPr>
          </a:p>
          <a:p>
            <a:endParaRPr lang="en-US" sz="18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96875" y="749300"/>
            <a:ext cx="11185525" cy="5378450"/>
          </a:xfrm>
        </p:spPr>
        <p:txBody>
          <a:bodyPr/>
          <a:p>
            <a:r>
              <a:rPr lang="en-US" sz="2800" b="1" u="sng">
                <a:solidFill>
                  <a:srgbClr val="0070C0"/>
                </a:solidFill>
                <a:latin typeface="Times New Roman" panose="02020603050405020304" charset="0"/>
                <a:cs typeface="Times New Roman" panose="02020603050405020304" charset="0"/>
                <a:sym typeface="+mn-ea"/>
              </a:rPr>
              <a:t>Localization</a:t>
            </a:r>
            <a:r>
              <a:rPr lang="en-US" sz="1800">
                <a:solidFill>
                  <a:srgbClr val="0070C0"/>
                </a:solidFill>
                <a:latin typeface="Times New Roman" panose="02020603050405020304" charset="0"/>
                <a:cs typeface="Times New Roman" panose="02020603050405020304" charset="0"/>
                <a:sym typeface="+mn-ea"/>
              </a:rPr>
              <a:t>:</a:t>
            </a:r>
            <a:endParaRPr lang="en-US" sz="1800">
              <a:solidFill>
                <a:srgbClr val="0070C0"/>
              </a:solidFill>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sym typeface="+mn-ea"/>
              </a:rPr>
              <a:t>Localization involves determining a robot's pose (position and orientation) accurately within a known or previously mapped environment. It is a critical prerequisite for effective navigation, as a robot needs to know its own location relative to its surroundings in order to plan and follow paths correctly. Key aspects of localization include:</a:t>
            </a:r>
            <a:endParaRPr lang="en-US" sz="1800">
              <a:latin typeface="Times New Roman" panose="02020603050405020304" charset="0"/>
              <a:cs typeface="Times New Roman" panose="02020603050405020304" charset="0"/>
            </a:endParaRPr>
          </a:p>
          <a:p>
            <a:endParaRPr lang="en-US" sz="1800">
              <a:latin typeface="Times New Roman" panose="02020603050405020304" charset="0"/>
              <a:cs typeface="Times New Roman" panose="02020603050405020304" charset="0"/>
            </a:endParaRPr>
          </a:p>
          <a:p>
            <a:r>
              <a:rPr lang="en-US" sz="1800" b="1">
                <a:latin typeface="Times New Roman" panose="02020603050405020304" charset="0"/>
                <a:cs typeface="Times New Roman" panose="02020603050405020304" charset="0"/>
                <a:sym typeface="+mn-ea"/>
              </a:rPr>
              <a:t>Sensor Data Fusion</a:t>
            </a:r>
            <a:r>
              <a:rPr lang="en-US" sz="1800">
                <a:latin typeface="Times New Roman" panose="02020603050405020304" charset="0"/>
                <a:cs typeface="Times New Roman" panose="02020603050405020304" charset="0"/>
                <a:sym typeface="+mn-ea"/>
              </a:rPr>
              <a:t>: Integrating data from various sensors, such as GPS, odometry, LiDAR, and cameras, to estimate the robot's pose accurately.</a:t>
            </a:r>
            <a:endParaRPr lang="en-US" sz="1800">
              <a:latin typeface="Times New Roman" panose="02020603050405020304" charset="0"/>
              <a:cs typeface="Times New Roman" panose="02020603050405020304" charset="0"/>
            </a:endParaRPr>
          </a:p>
          <a:p>
            <a:r>
              <a:rPr lang="en-US" sz="1800" b="1">
                <a:latin typeface="Times New Roman" panose="02020603050405020304" charset="0"/>
                <a:cs typeface="Times New Roman" panose="02020603050405020304" charset="0"/>
                <a:sym typeface="+mn-ea"/>
              </a:rPr>
              <a:t>Feature Matching</a:t>
            </a:r>
            <a:r>
              <a:rPr lang="en-US" sz="1800">
                <a:latin typeface="Times New Roman" panose="02020603050405020304" charset="0"/>
                <a:cs typeface="Times New Roman" panose="02020603050405020304" charset="0"/>
                <a:sym typeface="+mn-ea"/>
              </a:rPr>
              <a:t>: Comparing observed features in the environment (landmarks, visual cues, etc.) with those in the map to estimate the robot's pose.</a:t>
            </a:r>
            <a:endParaRPr lang="en-US" sz="1800">
              <a:latin typeface="Times New Roman" panose="02020603050405020304" charset="0"/>
              <a:cs typeface="Times New Roman" panose="02020603050405020304" charset="0"/>
            </a:endParaRPr>
          </a:p>
          <a:p>
            <a:r>
              <a:rPr lang="en-US" sz="1800" b="1">
                <a:latin typeface="Times New Roman" panose="02020603050405020304" charset="0"/>
                <a:cs typeface="Times New Roman" panose="02020603050405020304" charset="0"/>
                <a:sym typeface="+mn-ea"/>
              </a:rPr>
              <a:t>Particle Filtering</a:t>
            </a:r>
            <a:r>
              <a:rPr lang="en-US" sz="1800">
                <a:latin typeface="Times New Roman" panose="02020603050405020304" charset="0"/>
                <a:cs typeface="Times New Roman" panose="02020603050405020304" charset="0"/>
                <a:sym typeface="+mn-ea"/>
              </a:rPr>
              <a:t>: Utilizing probabilistic techniques like Monte Carlo Localization (MCL) or particle filtering to estimate the robot's pose based on sensor measurements.</a:t>
            </a:r>
            <a:endParaRPr lang="en-US" sz="1800">
              <a:latin typeface="Times New Roman" panose="02020603050405020304" charset="0"/>
              <a:cs typeface="Times New Roman" panose="02020603050405020304" charset="0"/>
            </a:endParaRPr>
          </a:p>
          <a:p>
            <a:r>
              <a:rPr lang="en-US" sz="1800" b="1">
                <a:latin typeface="Times New Roman" panose="02020603050405020304" charset="0"/>
                <a:cs typeface="Times New Roman" panose="02020603050405020304" charset="0"/>
                <a:sym typeface="+mn-ea"/>
              </a:rPr>
              <a:t>Simultaneous Localization and Mapping (SLAM)</a:t>
            </a:r>
            <a:r>
              <a:rPr lang="en-US" sz="1800">
                <a:latin typeface="Times New Roman" panose="02020603050405020304" charset="0"/>
                <a:cs typeface="Times New Roman" panose="02020603050405020304" charset="0"/>
                <a:sym typeface="+mn-ea"/>
              </a:rPr>
              <a:t>: A process where a robot simultaneously builds a map of its environment and localizes itself within that map using sensor data.</a:t>
            </a:r>
            <a:endParaRPr lang="en-US" sz="1800">
              <a:latin typeface="Times New Roman" panose="02020603050405020304" charset="0"/>
              <a:cs typeface="Times New Roman" panose="02020603050405020304" charset="0"/>
            </a:endParaRPr>
          </a:p>
          <a:p>
            <a:pPr marL="0" indent="0">
              <a:buNone/>
            </a:pPr>
            <a:endParaRPr lang="en-US" sz="18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079500"/>
          </a:xfrm>
        </p:spPr>
        <p:txBody>
          <a:bodyPr/>
          <a:p>
            <a:r>
              <a:rPr lang="en-US" b="1" u="sng">
                <a:ln/>
                <a:solidFill>
                  <a:srgbClr val="00B0F0"/>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Past, Present, and Future of Simultaneous Localization and Mapping: Toward the Robust-Perception Age</a:t>
            </a:r>
            <a:endParaRPr lang="en-US" b="1" u="sng">
              <a:ln/>
              <a:solidFill>
                <a:srgbClr val="00B0F0"/>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09600" y="1377950"/>
            <a:ext cx="10972800" cy="4749800"/>
          </a:xfrm>
        </p:spPr>
        <p:txBody>
          <a:bodyPr/>
          <a:p>
            <a:pPr marL="0" indent="0">
              <a:buNone/>
            </a:pPr>
            <a:r>
              <a:rPr lang="en-US" sz="2400" b="1" u="sng">
                <a:latin typeface="Times New Roman" panose="02020603050405020304" charset="0"/>
                <a:cs typeface="Times New Roman" panose="02020603050405020304" charset="0"/>
              </a:rPr>
              <a:t>Introduction:</a:t>
            </a:r>
            <a:endParaRPr lang="en-US" sz="18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rPr>
              <a:t>Introduces the concept of SLAM as a fundamental problem in robotics, involving the simultaneous estimation of a robot's pose and the map of its environment.</a:t>
            </a:r>
            <a:endParaRPr lang="en-US" sz="18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rPr>
              <a:t>Highlights the significance of SLAM in various applications, such as autonomous vehicles, drones, and augmented reality.</a:t>
            </a:r>
            <a:endParaRPr lang="en-US" sz="1800">
              <a:latin typeface="Times New Roman" panose="02020603050405020304" charset="0"/>
              <a:cs typeface="Times New Roman" panose="02020603050405020304" charset="0"/>
            </a:endParaRPr>
          </a:p>
          <a:p>
            <a:pPr marL="0" indent="0">
              <a:buNone/>
            </a:pPr>
            <a:endParaRPr lang="en-US" sz="1800">
              <a:latin typeface="Times New Roman" panose="02020603050405020304" charset="0"/>
              <a:cs typeface="Times New Roman" panose="02020603050405020304" charset="0"/>
            </a:endParaRPr>
          </a:p>
          <a:p>
            <a:pPr marL="0" indent="0">
              <a:buNone/>
            </a:pPr>
            <a:r>
              <a:rPr lang="en-US" sz="2400" b="1" u="sng">
                <a:latin typeface="Times New Roman" panose="02020603050405020304" charset="0"/>
                <a:cs typeface="Times New Roman" panose="02020603050405020304" charset="0"/>
              </a:rPr>
              <a:t>Historical Overview:</a:t>
            </a:r>
            <a:endParaRPr lang="en-US" sz="18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rPr>
              <a:t>Traces the evolution of SLAM techniques from early probabilistic methods to modern algorithms, including EKF-SLAM, FastSLAM, and GraphSLAM.</a:t>
            </a:r>
            <a:endParaRPr lang="en-US" sz="18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rPr>
              <a:t>Discusses the challenges faced in earlier methods, such as scalability and computational complexity.</a:t>
            </a:r>
            <a:endParaRPr lang="en-US" sz="1800">
              <a:latin typeface="Times New Roman" panose="02020603050405020304" charset="0"/>
              <a:cs typeface="Times New Roman" panose="02020603050405020304" charset="0"/>
            </a:endParaRPr>
          </a:p>
          <a:p>
            <a:pPr marL="0" indent="0">
              <a:buNone/>
            </a:pPr>
            <a:endParaRPr lang="en-US" sz="2000">
              <a:latin typeface="Times New Roman" panose="02020603050405020304" charset="0"/>
              <a:cs typeface="Times New Roman" panose="02020603050405020304" charset="0"/>
            </a:endParaRPr>
          </a:p>
          <a:p>
            <a:pPr marL="0" indent="0">
              <a:buNone/>
            </a:pPr>
            <a:r>
              <a:rPr lang="en-US" sz="2400" b="1" u="sng">
                <a:latin typeface="Times New Roman" panose="02020603050405020304" charset="0"/>
                <a:cs typeface="Times New Roman" panose="02020603050405020304" charset="0"/>
              </a:rPr>
              <a:t>Current State of SLAM:</a:t>
            </a:r>
            <a:endParaRPr lang="en-US" sz="20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rPr>
              <a:t>Presents an overview of the state-of-the-art SLAM techniques, including graph-based and filter-based methods, as well as visual-inertial fusion.</a:t>
            </a:r>
            <a:endParaRPr lang="en-US" sz="18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rPr>
              <a:t>Highlights the importance of robustness, accuracy, and real-time performance in modern SLAM solutions.</a:t>
            </a:r>
            <a:endParaRPr lang="en-US" sz="1800">
              <a:latin typeface="Times New Roman" panose="02020603050405020304" charset="0"/>
              <a:cs typeface="Times New Roman" panose="02020603050405020304" charset="0"/>
            </a:endParaRPr>
          </a:p>
          <a:p>
            <a:endParaRPr lang="en-US" sz="1800">
              <a:latin typeface="Times New Roman" panose="02020603050405020304" charset="0"/>
              <a:cs typeface="Times New Roman" panose="02020603050405020304" charset="0"/>
            </a:endParaRPr>
          </a:p>
          <a:p>
            <a:endParaRPr lang="en-US" sz="18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39115" y="901065"/>
            <a:ext cx="11043285" cy="5226685"/>
          </a:xfrm>
        </p:spPr>
        <p:txBody>
          <a:bodyPr/>
          <a:p>
            <a:pPr marL="0" indent="0">
              <a:buNone/>
            </a:pPr>
            <a:r>
              <a:rPr lang="en-US" sz="2800" b="1" u="sng">
                <a:latin typeface="Times New Roman" panose="02020603050405020304" charset="0"/>
                <a:cs typeface="Times New Roman" panose="02020603050405020304" charset="0"/>
                <a:sym typeface="+mn-ea"/>
              </a:rPr>
              <a:t>Challenges and Open Problems:</a:t>
            </a:r>
            <a:endParaRPr lang="en-US" sz="2800" b="1" u="sng">
              <a:latin typeface="Times New Roman" panose="02020603050405020304" charset="0"/>
              <a:cs typeface="Times New Roman" panose="02020603050405020304" charset="0"/>
              <a:sym typeface="+mn-ea"/>
            </a:endParaRPr>
          </a:p>
          <a:p>
            <a:pPr marL="0" indent="0" algn="l">
              <a:buNone/>
            </a:pPr>
            <a:r>
              <a:rPr lang="en-US" sz="1800">
                <a:latin typeface="Times New Roman" panose="02020603050405020304" charset="0"/>
                <a:cs typeface="Times New Roman" panose="02020603050405020304" charset="0"/>
                <a:sym typeface="+mn-ea"/>
              </a:rPr>
              <a:t>Discusses challenges in SLAM, such as handling large-scale environments, dealing with dynamic scenes, and addressing                                                perceptual ambiguities.   </a:t>
            </a:r>
            <a:endParaRPr lang="en-US" sz="1800">
              <a:latin typeface="Times New Roman" panose="02020603050405020304" charset="0"/>
              <a:cs typeface="Times New Roman" panose="02020603050405020304" charset="0"/>
            </a:endParaRPr>
          </a:p>
          <a:p>
            <a:pPr marL="0" indent="0" algn="l">
              <a:buNone/>
            </a:pPr>
            <a:r>
              <a:rPr lang="en-US" sz="1800">
                <a:latin typeface="Times New Roman" panose="02020603050405020304" charset="0"/>
                <a:cs typeface="Times New Roman" panose="02020603050405020304" charset="0"/>
                <a:sym typeface="+mn-ea"/>
              </a:rPr>
              <a:t>Explores the impact of sensor calibration errors, drift, and loop closure on SLAM accuracy.</a:t>
            </a:r>
            <a:endParaRPr lang="en-US" sz="1800">
              <a:latin typeface="Times New Roman" panose="02020603050405020304" charset="0"/>
              <a:cs typeface="Times New Roman" panose="02020603050405020304" charset="0"/>
              <a:sym typeface="+mn-ea"/>
            </a:endParaRPr>
          </a:p>
          <a:p>
            <a:pPr marL="0" indent="0" algn="l">
              <a:buNone/>
            </a:pPr>
            <a:endParaRPr lang="en-US" sz="1800">
              <a:latin typeface="Times New Roman" panose="02020603050405020304" charset="0"/>
              <a:cs typeface="Times New Roman" panose="02020603050405020304" charset="0"/>
            </a:endParaRPr>
          </a:p>
          <a:p>
            <a:pPr marL="0" indent="0">
              <a:buNone/>
            </a:pPr>
            <a:r>
              <a:rPr lang="en-US" sz="2800" b="1" u="sng">
                <a:latin typeface="Times New Roman" panose="02020603050405020304" charset="0"/>
                <a:cs typeface="Times New Roman" panose="02020603050405020304" charset="0"/>
                <a:sym typeface="+mn-ea"/>
              </a:rPr>
              <a:t>Robust Perception Age:</a:t>
            </a:r>
            <a:endParaRPr lang="en-US" sz="2800" b="1" u="sng">
              <a:latin typeface="Times New Roman" panose="02020603050405020304" charset="0"/>
              <a:cs typeface="Times New Roman" panose="02020603050405020304" charset="0"/>
            </a:endParaRPr>
          </a:p>
          <a:p>
            <a:pPr marL="0" indent="0" algn="l">
              <a:buNone/>
            </a:pPr>
            <a:r>
              <a:rPr lang="en-US" sz="1800">
                <a:latin typeface="Times New Roman" panose="02020603050405020304" charset="0"/>
                <a:cs typeface="Times New Roman" panose="02020603050405020304" charset="0"/>
                <a:sym typeface="+mn-ea"/>
              </a:rPr>
              <a:t>Introduces the concept of the "Robust-Perception Age," emphasizing the importance of robust sensor perception in addressing SLAM challenges.</a:t>
            </a:r>
            <a:endParaRPr lang="en-US" sz="1800">
              <a:latin typeface="Times New Roman" panose="02020603050405020304" charset="0"/>
              <a:cs typeface="Times New Roman" panose="02020603050405020304" charset="0"/>
            </a:endParaRPr>
          </a:p>
          <a:p>
            <a:pPr marL="0" indent="0" algn="l">
              <a:buNone/>
            </a:pPr>
            <a:r>
              <a:rPr lang="en-US" sz="1800">
                <a:latin typeface="Times New Roman" panose="02020603050405020304" charset="0"/>
                <a:cs typeface="Times New Roman" panose="02020603050405020304" charset="0"/>
                <a:sym typeface="+mn-ea"/>
              </a:rPr>
              <a:t>Discusses the integration of multiple sensors (e.g., cameras, LiDAR, IMU) for improved perception and robustness.</a:t>
            </a:r>
            <a:endParaRPr lang="en-US" sz="1800">
              <a:latin typeface="Times New Roman" panose="02020603050405020304" charset="0"/>
              <a:cs typeface="Times New Roman" panose="02020603050405020304" charset="0"/>
              <a:sym typeface="+mn-ea"/>
            </a:endParaRPr>
          </a:p>
          <a:p>
            <a:pPr marL="0" indent="0" algn="l">
              <a:buNone/>
            </a:pPr>
            <a:endParaRPr lang="en-US" sz="1800">
              <a:latin typeface="Times New Roman" panose="02020603050405020304" charset="0"/>
              <a:cs typeface="Times New Roman" panose="02020603050405020304" charset="0"/>
            </a:endParaRPr>
          </a:p>
          <a:p>
            <a:pPr marL="0" indent="0">
              <a:buNone/>
            </a:pPr>
            <a:r>
              <a:rPr lang="en-US" sz="2800" b="1" u="sng">
                <a:latin typeface="Times New Roman" panose="02020603050405020304" charset="0"/>
                <a:cs typeface="Times New Roman" panose="02020603050405020304" charset="0"/>
                <a:sym typeface="+mn-ea"/>
              </a:rPr>
              <a:t>Future Directions:</a:t>
            </a:r>
            <a:endParaRPr lang="en-US" sz="2800" b="1" u="sng">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sym typeface="+mn-ea"/>
              </a:rPr>
              <a:t>Envisions the future of SLAM, where robust perception capabilities enable robots to operate in diverse and challenging environments.</a:t>
            </a:r>
            <a:endParaRPr lang="en-US" sz="18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sym typeface="+mn-ea"/>
              </a:rPr>
              <a:t>Discusses the integration of machine learning techniques, such as deep learning, to enhance perception and mapping.</a:t>
            </a:r>
            <a:endParaRPr lang="en-US" sz="18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sym typeface="+mn-ea"/>
              </a:rPr>
              <a:t>Conclusion:</a:t>
            </a:r>
            <a:endParaRPr lang="en-US" sz="1800">
              <a:latin typeface="Times New Roman" panose="02020603050405020304" charset="0"/>
              <a:cs typeface="Times New Roman" panose="02020603050405020304" charset="0"/>
            </a:endParaRPr>
          </a:p>
          <a:p>
            <a:endParaRPr lang="en-US" sz="18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4000" b="1" u="sng">
                <a:ln/>
                <a:solidFill>
                  <a:srgbClr val="00B0F0"/>
                </a:solidFill>
                <a:effectLst>
                  <a:outerShdw blurRad="38100" dist="25400" dir="5400000" algn="ctr" rotWithShape="0">
                    <a:srgbClr val="6E747A">
                      <a:alpha val="43000"/>
                    </a:srgbClr>
                  </a:outerShdw>
                </a:effectLst>
              </a:rPr>
              <a:t>METHODOLOGY</a:t>
            </a:r>
            <a:endParaRPr lang="en-US" sz="4000" b="1" u="sng">
              <a:ln/>
              <a:solidFill>
                <a:srgbClr val="00B0F0"/>
              </a:solidFill>
              <a:effectLst>
                <a:outerShdw blurRad="38100" dist="25400" dir="5400000" algn="ctr" rotWithShape="0">
                  <a:srgbClr val="6E747A">
                    <a:alpha val="43000"/>
                  </a:srgbClr>
                </a:outerShdw>
              </a:effectLst>
            </a:endParaRPr>
          </a:p>
        </p:txBody>
      </p:sp>
      <p:sp>
        <p:nvSpPr>
          <p:cNvPr id="3" name="Content Placeholder 2"/>
          <p:cNvSpPr>
            <a:spLocks noGrp="1"/>
          </p:cNvSpPr>
          <p:nvPr>
            <p:ph idx="1"/>
          </p:nvPr>
        </p:nvSpPr>
        <p:spPr>
          <a:xfrm>
            <a:off x="457200" y="869950"/>
            <a:ext cx="11125200" cy="5257800"/>
          </a:xfrm>
        </p:spPr>
        <p:txBody>
          <a:bodyPr/>
          <a:p>
            <a:r>
              <a:rPr lang="en-US" sz="2400" b="1">
                <a:latin typeface="Times New Roman" panose="02020603050405020304" charset="0"/>
                <a:cs typeface="Times New Roman" panose="02020603050405020304" charset="0"/>
              </a:rPr>
              <a:t>Problem Definition:</a:t>
            </a:r>
            <a:endParaRPr lang="en-US" sz="1600">
              <a:latin typeface="Times New Roman" panose="02020603050405020304" charset="0"/>
              <a:cs typeface="Times New Roman" panose="02020603050405020304" charset="0"/>
            </a:endParaRPr>
          </a:p>
          <a:p>
            <a:pPr>
              <a:buFont typeface="Wingdings" panose="05000000000000000000" charset="0"/>
              <a:buChar char="Ø"/>
            </a:pPr>
            <a:r>
              <a:rPr lang="en-US" sz="1600">
                <a:latin typeface="Times New Roman" panose="02020603050405020304" charset="0"/>
                <a:cs typeface="Times New Roman" panose="02020603050405020304" charset="0"/>
              </a:rPr>
              <a:t>Clearly define the objectives of navigation and localization for your robot. Determine the environment in which the robot will operate, the tasks it needs to perform, and the accuracy requirements for both navigation and localization.</a:t>
            </a:r>
            <a:endParaRPr lang="en-US" sz="1600">
              <a:latin typeface="Times New Roman" panose="02020603050405020304" charset="0"/>
              <a:cs typeface="Times New Roman" panose="02020603050405020304" charset="0"/>
            </a:endParaRPr>
          </a:p>
          <a:p>
            <a:pPr>
              <a:buFont typeface="Wingdings" panose="05000000000000000000" charset="0"/>
              <a:buChar char="Ø"/>
            </a:pPr>
            <a:endParaRPr lang="en-US" sz="1600">
              <a:latin typeface="Times New Roman" panose="02020603050405020304" charset="0"/>
              <a:cs typeface="Times New Roman" panose="02020603050405020304" charset="0"/>
            </a:endParaRPr>
          </a:p>
          <a:p>
            <a:r>
              <a:rPr lang="en-US" sz="2000" b="1">
                <a:latin typeface="Times New Roman" panose="02020603050405020304" charset="0"/>
                <a:cs typeface="Times New Roman" panose="02020603050405020304" charset="0"/>
              </a:rPr>
              <a:t>Sensor Selection and Integration:</a:t>
            </a:r>
            <a:endParaRPr lang="en-US" sz="2000" b="1">
              <a:latin typeface="Times New Roman" panose="02020603050405020304" charset="0"/>
              <a:cs typeface="Times New Roman" panose="02020603050405020304" charset="0"/>
            </a:endParaRPr>
          </a:p>
          <a:p>
            <a:pPr>
              <a:buFont typeface="Wingdings" panose="05000000000000000000" charset="0"/>
              <a:buChar char="Ø"/>
            </a:pPr>
            <a:r>
              <a:rPr lang="en-US" sz="1600">
                <a:latin typeface="Times New Roman" panose="02020603050405020304" charset="0"/>
                <a:cs typeface="Times New Roman" panose="02020603050405020304" charset="0"/>
              </a:rPr>
              <a:t>Choose appropriate sensors for localization (e.g., GPS, IMU, LiDAR, cameras) and navigation (e.g., LiDAR, cameras, sonar).Integrate sensor data by selecting suitable fusion techniques (e.g., Kalman filters, particle filters) to provide accurate and reliable pose estimates.</a:t>
            </a:r>
            <a:endParaRPr lang="en-US" sz="1600">
              <a:latin typeface="Times New Roman" panose="02020603050405020304" charset="0"/>
              <a:cs typeface="Times New Roman" panose="02020603050405020304" charset="0"/>
            </a:endParaRPr>
          </a:p>
          <a:p>
            <a:pPr>
              <a:buFont typeface="Wingdings" panose="05000000000000000000" charset="0"/>
              <a:buChar char="Ø"/>
            </a:pPr>
            <a:endParaRPr lang="en-US" sz="1600">
              <a:latin typeface="Times New Roman" panose="02020603050405020304" charset="0"/>
              <a:cs typeface="Times New Roman" panose="02020603050405020304" charset="0"/>
            </a:endParaRPr>
          </a:p>
          <a:p>
            <a:r>
              <a:rPr lang="en-US" sz="2000" b="1">
                <a:latin typeface="Times New Roman" panose="02020603050405020304" charset="0"/>
                <a:cs typeface="Times New Roman" panose="02020603050405020304" charset="0"/>
              </a:rPr>
              <a:t>Map Creation:</a:t>
            </a:r>
            <a:endParaRPr lang="en-US" sz="1600">
              <a:latin typeface="Times New Roman" panose="02020603050405020304" charset="0"/>
              <a:cs typeface="Times New Roman" panose="02020603050405020304" charset="0"/>
            </a:endParaRPr>
          </a:p>
          <a:p>
            <a:pPr>
              <a:buFont typeface="Wingdings" panose="05000000000000000000" charset="0"/>
              <a:buChar char="Ø"/>
            </a:pPr>
            <a:r>
              <a:rPr lang="en-US" sz="1600">
                <a:latin typeface="Times New Roman" panose="02020603050405020304" charset="0"/>
                <a:cs typeface="Times New Roman" panose="02020603050405020304" charset="0"/>
              </a:rPr>
              <a:t>If the environment is unknown, implement a mapping process (SLAM) to create a representation of the surroundings. This can involve combining sensor data over time to build a map while localizing the robot within it.</a:t>
            </a:r>
            <a:endParaRPr lang="en-US" sz="1600">
              <a:latin typeface="Times New Roman" panose="02020603050405020304" charset="0"/>
              <a:cs typeface="Times New Roman" panose="02020603050405020304" charset="0"/>
            </a:endParaRPr>
          </a:p>
          <a:p>
            <a:r>
              <a:rPr lang="en-US" sz="2000" b="1">
                <a:latin typeface="Times New Roman" panose="02020603050405020304" charset="0"/>
                <a:cs typeface="Times New Roman" panose="02020603050405020304" charset="0"/>
              </a:rPr>
              <a:t>Localization:</a:t>
            </a:r>
            <a:endParaRPr lang="en-US" sz="1600">
              <a:latin typeface="Times New Roman" panose="02020603050405020304" charset="0"/>
              <a:cs typeface="Times New Roman" panose="02020603050405020304" charset="0"/>
            </a:endParaRPr>
          </a:p>
          <a:p>
            <a:pPr>
              <a:buFont typeface="Wingdings" panose="05000000000000000000" charset="0"/>
              <a:buChar char="Ø"/>
            </a:pPr>
            <a:r>
              <a:rPr lang="en-US" sz="1600">
                <a:latin typeface="Times New Roman" panose="02020603050405020304" charset="0"/>
                <a:cs typeface="Times New Roman" panose="02020603050405020304" charset="0"/>
              </a:rPr>
              <a:t>Implement a localization algorithm that uses the integrated sensor data to estimate the robot's position and orientation relative to the map. This could involve particle filtering, graph-based methods, or feature-based matching.</a:t>
            </a:r>
            <a:endParaRPr lang="en-US" sz="1600">
              <a:latin typeface="Times New Roman" panose="02020603050405020304" charset="0"/>
              <a:cs typeface="Times New Roman" panose="02020603050405020304" charset="0"/>
            </a:endParaRPr>
          </a:p>
          <a:p>
            <a:pPr>
              <a:buFont typeface="Wingdings" panose="05000000000000000000" charset="0"/>
              <a:buChar char="Ø"/>
            </a:pPr>
            <a:endParaRPr lang="en-US" sz="1600">
              <a:latin typeface="Times New Roman" panose="02020603050405020304" charset="0"/>
              <a:cs typeface="Times New Roman" panose="02020603050405020304" charset="0"/>
            </a:endParaRPr>
          </a:p>
          <a:p>
            <a:r>
              <a:rPr lang="en-US" sz="2000" b="1">
                <a:latin typeface="Times New Roman" panose="02020603050405020304" charset="0"/>
                <a:cs typeface="Times New Roman" panose="02020603050405020304" charset="0"/>
              </a:rPr>
              <a:t>Path Planning:</a:t>
            </a:r>
            <a:endParaRPr lang="en-US" sz="1600">
              <a:latin typeface="Times New Roman" panose="02020603050405020304" charset="0"/>
              <a:cs typeface="Times New Roman" panose="02020603050405020304" charset="0"/>
            </a:endParaRPr>
          </a:p>
          <a:p>
            <a:pPr>
              <a:buFont typeface="Wingdings" panose="05000000000000000000" charset="0"/>
              <a:buChar char="Ø"/>
            </a:pPr>
            <a:r>
              <a:rPr lang="en-US" sz="1600">
                <a:latin typeface="Times New Roman" panose="02020603050405020304" charset="0"/>
                <a:cs typeface="Times New Roman" panose="02020603050405020304" charset="0"/>
              </a:rPr>
              <a:t>Develop a path planning algorithm that takes into account the robot's current pose, the desired goal, and the map of the environment. The algorithm should generate a feasible and collision-free path.</a:t>
            </a:r>
            <a:endParaRPr lang="en-US" sz="1600">
              <a:latin typeface="Times New Roman" panose="02020603050405020304" charset="0"/>
              <a:cs typeface="Times New Roman" panose="02020603050405020304" charset="0"/>
            </a:endParaRPr>
          </a:p>
          <a:p>
            <a:endParaRPr lang="en-US" sz="1600">
              <a:latin typeface="Times New Roman" panose="02020603050405020304" charset="0"/>
              <a:cs typeface="Times New Roman" panose="02020603050405020304" charset="0"/>
            </a:endParaRPr>
          </a:p>
          <a:p>
            <a:endParaRPr lang="en-US" sz="16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86715" y="615950"/>
            <a:ext cx="11449685" cy="5856605"/>
          </a:xfrm>
        </p:spPr>
        <p:txBody>
          <a:bodyPr/>
          <a:p>
            <a:r>
              <a:rPr lang="en-US" sz="2000" b="1">
                <a:latin typeface="Times New Roman" panose="02020603050405020304" charset="0"/>
                <a:cs typeface="Times New Roman" panose="02020603050405020304" charset="0"/>
                <a:sym typeface="+mn-ea"/>
              </a:rPr>
              <a:t>Obstacle Avoidance:</a:t>
            </a:r>
            <a:endParaRPr lang="en-US" sz="1800">
              <a:latin typeface="Times New Roman" panose="02020603050405020304" charset="0"/>
              <a:cs typeface="Times New Roman" panose="02020603050405020304" charset="0"/>
              <a:sym typeface="+mn-ea"/>
            </a:endParaRPr>
          </a:p>
          <a:p>
            <a:pPr>
              <a:buFont typeface="Wingdings" panose="05000000000000000000" charset="0"/>
              <a:buChar char="Ø"/>
            </a:pPr>
            <a:r>
              <a:rPr lang="en-US" sz="1800">
                <a:latin typeface="Times New Roman" panose="02020603050405020304" charset="0"/>
                <a:cs typeface="Times New Roman" panose="02020603050405020304" charset="0"/>
                <a:sym typeface="+mn-ea"/>
              </a:rPr>
              <a:t>Integrate obstacle detection and avoidance mechanisms into the navigation system. Use sensor data to detect obstacles and adjust the planned path to avoid collisions.</a:t>
            </a:r>
            <a:endParaRPr lang="en-US" sz="1800">
              <a:latin typeface="Times New Roman" panose="02020603050405020304" charset="0"/>
              <a:cs typeface="Times New Roman" panose="02020603050405020304" charset="0"/>
              <a:sym typeface="+mn-ea"/>
            </a:endParaRPr>
          </a:p>
          <a:p>
            <a:pPr>
              <a:buFont typeface="Wingdings" panose="05000000000000000000" charset="0"/>
              <a:buChar char="Ø"/>
            </a:pPr>
            <a:endParaRPr lang="en-US" sz="1800" b="1">
              <a:latin typeface="Times New Roman" panose="02020603050405020304" charset="0"/>
              <a:cs typeface="Times New Roman" panose="02020603050405020304" charset="0"/>
              <a:sym typeface="+mn-ea"/>
            </a:endParaRPr>
          </a:p>
          <a:p>
            <a:pPr/>
            <a:r>
              <a:rPr lang="en-US" sz="2000" b="1">
                <a:latin typeface="Times New Roman" panose="02020603050405020304" charset="0"/>
                <a:cs typeface="Times New Roman" panose="02020603050405020304" charset="0"/>
                <a:sym typeface="+mn-ea"/>
              </a:rPr>
              <a:t>Control and Execution:</a:t>
            </a:r>
            <a:endParaRPr lang="en-US" sz="1800">
              <a:latin typeface="Times New Roman" panose="02020603050405020304" charset="0"/>
              <a:cs typeface="Times New Roman" panose="02020603050405020304" charset="0"/>
            </a:endParaRPr>
          </a:p>
          <a:p>
            <a:pPr>
              <a:buFont typeface="Wingdings" panose="05000000000000000000" charset="0"/>
              <a:buChar char="Ø"/>
            </a:pPr>
            <a:r>
              <a:rPr lang="en-US" sz="1800">
                <a:latin typeface="Times New Roman" panose="02020603050405020304" charset="0"/>
                <a:cs typeface="Times New Roman" panose="02020603050405020304" charset="0"/>
                <a:sym typeface="+mn-ea"/>
              </a:rPr>
              <a:t>Develop control algorithms that convert the planned path into control commands for the robot's actuators (e.g., motors, servos). These commands should ensure accurate trajectory tracking.</a:t>
            </a:r>
            <a:endParaRPr lang="en-US" sz="1800">
              <a:latin typeface="Times New Roman" panose="02020603050405020304" charset="0"/>
              <a:cs typeface="Times New Roman" panose="02020603050405020304" charset="0"/>
              <a:sym typeface="+mn-ea"/>
            </a:endParaRPr>
          </a:p>
          <a:p>
            <a:pPr marL="0" indent="0">
              <a:buFont typeface="Wingdings" panose="05000000000000000000" charset="0"/>
              <a:buNone/>
            </a:pPr>
            <a:endParaRPr lang="en-US" sz="1800">
              <a:latin typeface="Times New Roman" panose="02020603050405020304" charset="0"/>
              <a:cs typeface="Times New Roman" panose="02020603050405020304" charset="0"/>
            </a:endParaRPr>
          </a:p>
          <a:p>
            <a:r>
              <a:rPr lang="en-US" sz="2000" b="1">
                <a:latin typeface="Times New Roman" panose="02020603050405020304" charset="0"/>
                <a:cs typeface="Times New Roman" panose="02020603050405020304" charset="0"/>
                <a:sym typeface="+mn-ea"/>
              </a:rPr>
              <a:t>Testing and Simulation:</a:t>
            </a:r>
            <a:endParaRPr lang="en-US" sz="1800">
              <a:latin typeface="Times New Roman" panose="02020603050405020304" charset="0"/>
              <a:cs typeface="Times New Roman" panose="02020603050405020304" charset="0"/>
            </a:endParaRPr>
          </a:p>
          <a:p>
            <a:pPr>
              <a:buFont typeface="Wingdings" panose="05000000000000000000" charset="0"/>
              <a:buChar char="Ø"/>
            </a:pPr>
            <a:r>
              <a:rPr lang="en-US" sz="1800">
                <a:latin typeface="Times New Roman" panose="02020603050405020304" charset="0"/>
                <a:cs typeface="Times New Roman" panose="02020603050405020304" charset="0"/>
                <a:sym typeface="+mn-ea"/>
              </a:rPr>
              <a:t>Validate the navigation and localization system in both simulated and real-world scenarios. Use test environments to evaluate the system's performance, robustness, and accuracy.</a:t>
            </a:r>
            <a:endParaRPr lang="en-US" sz="1800">
              <a:latin typeface="Times New Roman" panose="02020603050405020304" charset="0"/>
              <a:cs typeface="Times New Roman" panose="02020603050405020304" charset="0"/>
              <a:sym typeface="+mn-ea"/>
            </a:endParaRPr>
          </a:p>
          <a:p>
            <a:pPr marL="0" indent="0">
              <a:buFont typeface="Wingdings" panose="05000000000000000000" charset="0"/>
              <a:buNone/>
            </a:pPr>
            <a:endParaRPr lang="en-US" sz="1800">
              <a:latin typeface="Times New Roman" panose="02020603050405020304" charset="0"/>
              <a:cs typeface="Times New Roman" panose="02020603050405020304" charset="0"/>
            </a:endParaRPr>
          </a:p>
          <a:p>
            <a:r>
              <a:rPr lang="en-US" sz="2000" b="1">
                <a:latin typeface="Times New Roman" panose="02020603050405020304" charset="0"/>
                <a:cs typeface="Times New Roman" panose="02020603050405020304" charset="0"/>
                <a:sym typeface="+mn-ea"/>
              </a:rPr>
              <a:t>Iterative Refinement:</a:t>
            </a:r>
            <a:endParaRPr lang="en-US" sz="2000" b="1">
              <a:latin typeface="Times New Roman" panose="02020603050405020304" charset="0"/>
              <a:cs typeface="Times New Roman" panose="02020603050405020304" charset="0"/>
            </a:endParaRPr>
          </a:p>
          <a:p>
            <a:pPr>
              <a:buFont typeface="Wingdings" panose="05000000000000000000" charset="0"/>
              <a:buChar char="Ø"/>
            </a:pPr>
            <a:r>
              <a:rPr lang="en-US" sz="1800">
                <a:latin typeface="Times New Roman" panose="02020603050405020304" charset="0"/>
                <a:cs typeface="Times New Roman" panose="02020603050405020304" charset="0"/>
                <a:sym typeface="+mn-ea"/>
              </a:rPr>
              <a:t>Analyze the system's performance and identify areas for improvement. Iterate on the methodology by fine-tuning algorithms, optimizing sensor fusion, or enhancing path planning strategies.</a:t>
            </a:r>
            <a:endParaRPr lang="en-US" sz="1800">
              <a:latin typeface="Times New Roman" panose="02020603050405020304" charset="0"/>
              <a:cs typeface="Times New Roman" panose="02020603050405020304" charset="0"/>
            </a:endParaRPr>
          </a:p>
          <a:p>
            <a:pPr>
              <a:buFont typeface="Wingdings" panose="05000000000000000000" charset="0"/>
              <a:buChar char="Ø"/>
            </a:pPr>
            <a:endParaRPr lang="en-US" sz="18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55600" y="1215390"/>
            <a:ext cx="11642725" cy="5643245"/>
          </a:xfrm>
        </p:spPr>
        <p:txBody>
          <a:bodyPr/>
          <a:p>
            <a:r>
              <a:rPr lang="en-US" sz="2400" b="1">
                <a:latin typeface="Times New Roman" panose="02020603050405020304" charset="0"/>
                <a:cs typeface="Times New Roman" panose="02020603050405020304" charset="0"/>
                <a:sym typeface="+mn-ea"/>
              </a:rPr>
              <a:t>Deployment:</a:t>
            </a:r>
            <a:endParaRPr lang="en-US" sz="1800">
              <a:latin typeface="Times New Roman" panose="02020603050405020304" charset="0"/>
              <a:cs typeface="Times New Roman" panose="02020603050405020304" charset="0"/>
            </a:endParaRPr>
          </a:p>
          <a:p>
            <a:pPr>
              <a:buFont typeface="Wingdings" panose="05000000000000000000" charset="0"/>
              <a:buChar char="Ø"/>
            </a:pPr>
            <a:r>
              <a:rPr lang="en-US" sz="1800">
                <a:latin typeface="Times New Roman" panose="02020603050405020304" charset="0"/>
                <a:cs typeface="Times New Roman" panose="02020603050405020304" charset="0"/>
                <a:sym typeface="+mn-ea"/>
              </a:rPr>
              <a:t>Once the navigation and localization system meets the required performance criteria, deploy the robot in its intended operational environment. Continuously monitor and maintain the system to ensure reliable and accurate performance.</a:t>
            </a:r>
            <a:endParaRPr lang="en-US" sz="1800">
              <a:latin typeface="Times New Roman" panose="02020603050405020304" charset="0"/>
              <a:cs typeface="Times New Roman" panose="02020603050405020304" charset="0"/>
            </a:endParaRPr>
          </a:p>
          <a:p>
            <a:pPr>
              <a:buFont typeface="Wingdings" panose="05000000000000000000" charset="0"/>
              <a:buChar char="Ø"/>
            </a:pPr>
            <a:endParaRPr lang="en-US" sz="1800">
              <a:latin typeface="Times New Roman" panose="02020603050405020304" charset="0"/>
              <a:cs typeface="Times New Roman" panose="02020603050405020304" charset="0"/>
              <a:sym typeface="+mn-ea"/>
            </a:endParaRPr>
          </a:p>
          <a:p>
            <a:r>
              <a:rPr lang="en-US" sz="2400" b="1">
                <a:latin typeface="Times New Roman" panose="02020603050405020304" charset="0"/>
                <a:cs typeface="Times New Roman" panose="02020603050405020304" charset="0"/>
                <a:sym typeface="+mn-ea"/>
              </a:rPr>
              <a:t>Safety Considerations:</a:t>
            </a:r>
            <a:endParaRPr lang="en-US" sz="1800">
              <a:latin typeface="Times New Roman" panose="02020603050405020304" charset="0"/>
              <a:cs typeface="Times New Roman" panose="02020603050405020304" charset="0"/>
            </a:endParaRPr>
          </a:p>
          <a:p>
            <a:pPr>
              <a:buFont typeface="Wingdings" panose="05000000000000000000" charset="0"/>
              <a:buChar char="Ø"/>
            </a:pPr>
            <a:r>
              <a:rPr lang="en-US" sz="1800">
                <a:latin typeface="Times New Roman" panose="02020603050405020304" charset="0"/>
                <a:cs typeface="Times New Roman" panose="02020603050405020304" charset="0"/>
                <a:sym typeface="+mn-ea"/>
              </a:rPr>
              <a:t>Incorporate safety mechanisms and protocols to ensure that the robot operates safely, especially in dynamic and populated environments.</a:t>
            </a:r>
            <a:endParaRPr lang="en-US" sz="1800">
              <a:latin typeface="Times New Roman" panose="02020603050405020304" charset="0"/>
              <a:cs typeface="Times New Roman" panose="02020603050405020304" charset="0"/>
              <a:sym typeface="+mn-ea"/>
            </a:endParaRPr>
          </a:p>
          <a:p>
            <a:pPr>
              <a:buFont typeface="Wingdings" panose="05000000000000000000" charset="0"/>
              <a:buChar char="Ø"/>
            </a:pPr>
            <a:endParaRPr lang="en-US" sz="1800">
              <a:latin typeface="Times New Roman" panose="02020603050405020304" charset="0"/>
              <a:cs typeface="Times New Roman" panose="02020603050405020304" charset="0"/>
            </a:endParaRPr>
          </a:p>
          <a:p>
            <a:r>
              <a:rPr lang="en-US" sz="2400" b="1">
                <a:latin typeface="Times New Roman" panose="02020603050405020304" charset="0"/>
                <a:cs typeface="Times New Roman" panose="02020603050405020304" charset="0"/>
                <a:sym typeface="+mn-ea"/>
              </a:rPr>
              <a:t>Documentation and Reporting:</a:t>
            </a:r>
            <a:endParaRPr lang="en-US" sz="1800">
              <a:latin typeface="Times New Roman" panose="02020603050405020304" charset="0"/>
              <a:cs typeface="Times New Roman" panose="02020603050405020304" charset="0"/>
            </a:endParaRPr>
          </a:p>
          <a:p>
            <a:pPr>
              <a:buFont typeface="Wingdings" panose="05000000000000000000" charset="0"/>
              <a:buChar char="Ø"/>
            </a:pPr>
            <a:r>
              <a:rPr lang="en-US" sz="1800">
                <a:latin typeface="Times New Roman" panose="02020603050405020304" charset="0"/>
                <a:cs typeface="Times New Roman" panose="02020603050405020304" charset="0"/>
                <a:sym typeface="+mn-ea"/>
              </a:rPr>
              <a:t>Document the methodology, algorithms, and implementation details. Create comprehensive reports and documentation for future reference and knowledge sharing.</a:t>
            </a:r>
            <a:endParaRPr lang="en-US" sz="1800">
              <a:latin typeface="Times New Roman" panose="02020603050405020304" charset="0"/>
              <a:cs typeface="Times New Roman" panose="02020603050405020304" charset="0"/>
            </a:endParaRPr>
          </a:p>
          <a:p>
            <a:pPr marL="0" indent="0">
              <a:buFont typeface="Wingdings" panose="05000000000000000000" charset="0"/>
              <a:buNone/>
            </a:pPr>
            <a:endParaRPr lang="en-US" sz="18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4000" b="1" u="sng">
                <a:ln/>
                <a:solidFill>
                  <a:srgbClr val="00B0F0"/>
                </a:solidFill>
                <a:effectLst>
                  <a:outerShdw blurRad="38100" dist="25400" dir="5400000" algn="ctr" rotWithShape="0">
                    <a:srgbClr val="6E747A">
                      <a:alpha val="43000"/>
                    </a:srgbClr>
                  </a:outerShdw>
                </a:effectLst>
              </a:rPr>
              <a:t>CONCLUSION</a:t>
            </a:r>
            <a:endParaRPr lang="en-US" sz="4000" b="1" u="sng">
              <a:ln/>
              <a:solidFill>
                <a:srgbClr val="00B0F0"/>
              </a:solidFill>
              <a:effectLst>
                <a:outerShdw blurRad="38100" dist="25400" dir="5400000" algn="ctr" rotWithShape="0">
                  <a:srgbClr val="6E747A">
                    <a:alpha val="43000"/>
                  </a:srgbClr>
                </a:outerShdw>
              </a:effectLst>
            </a:endParaRPr>
          </a:p>
        </p:txBody>
      </p:sp>
      <p:sp>
        <p:nvSpPr>
          <p:cNvPr id="3" name="Content Placeholder 2"/>
          <p:cNvSpPr>
            <a:spLocks noGrp="1"/>
          </p:cNvSpPr>
          <p:nvPr>
            <p:ph idx="1"/>
          </p:nvPr>
        </p:nvSpPr>
        <p:spPr/>
        <p:txBody>
          <a:bodyPr/>
          <a:p>
            <a:r>
              <a:rPr lang="en-US" sz="2400">
                <a:latin typeface="Times New Roman" panose="02020603050405020304" charset="0"/>
                <a:cs typeface="Times New Roman" panose="02020603050405020304" charset="0"/>
              </a:rPr>
              <a:t>Simultaneous Localization and Mapping (SLAM) revolutionizes robotics by enabling </a:t>
            </a:r>
            <a:r>
              <a:rPr lang="en-US" sz="2400">
                <a:solidFill>
                  <a:srgbClr val="00B050"/>
                </a:solidFill>
                <a:latin typeface="Times New Roman" panose="02020603050405020304" charset="0"/>
                <a:cs typeface="Times New Roman" panose="02020603050405020304" charset="0"/>
              </a:rPr>
              <a:t>autonomous navigation</a:t>
            </a:r>
            <a:r>
              <a:rPr lang="en-US" sz="2400">
                <a:latin typeface="Times New Roman" panose="02020603050405020304" charset="0"/>
                <a:cs typeface="Times New Roman" panose="02020603050405020304" charset="0"/>
              </a:rPr>
              <a:t> and </a:t>
            </a:r>
            <a:r>
              <a:rPr lang="en-US" sz="2400">
                <a:solidFill>
                  <a:srgbClr val="00B050"/>
                </a:solidFill>
                <a:latin typeface="Times New Roman" panose="02020603050405020304" charset="0"/>
                <a:cs typeface="Times New Roman" panose="02020603050405020304" charset="0"/>
              </a:rPr>
              <a:t>precise localization</a:t>
            </a:r>
            <a:r>
              <a:rPr lang="en-US" sz="2400">
                <a:latin typeface="Times New Roman" panose="02020603050405020304" charset="0"/>
                <a:cs typeface="Times New Roman" panose="02020603050405020304" charset="0"/>
              </a:rPr>
              <a:t> in complex environments. This integration of sensor data and advanced algorithms forms the bedrock of robot autonomy, impacting fields from </a:t>
            </a:r>
            <a:r>
              <a:rPr lang="en-US" sz="2400">
                <a:solidFill>
                  <a:srgbClr val="00B050"/>
                </a:solidFill>
                <a:latin typeface="Times New Roman" panose="02020603050405020304" charset="0"/>
                <a:cs typeface="Times New Roman" panose="02020603050405020304" charset="0"/>
              </a:rPr>
              <a:t>self-driving cars</a:t>
            </a:r>
            <a:r>
              <a:rPr lang="en-US" sz="2400">
                <a:latin typeface="Times New Roman" panose="02020603050405020304" charset="0"/>
                <a:cs typeface="Times New Roman" panose="02020603050405020304" charset="0"/>
              </a:rPr>
              <a:t> to industrial automation. Challenges such as </a:t>
            </a:r>
            <a:r>
              <a:rPr lang="en-US" sz="2400">
                <a:solidFill>
                  <a:srgbClr val="00B050"/>
                </a:solidFill>
                <a:latin typeface="Times New Roman" panose="02020603050405020304" charset="0"/>
                <a:cs typeface="Times New Roman" panose="02020603050405020304" charset="0"/>
              </a:rPr>
              <a:t>sensor fusion</a:t>
            </a:r>
            <a:r>
              <a:rPr lang="en-US" sz="2400">
                <a:latin typeface="Times New Roman" panose="02020603050405020304" charset="0"/>
                <a:cs typeface="Times New Roman" panose="02020603050405020304" charset="0"/>
              </a:rPr>
              <a:t> and algorithmic diversity are met with continuous innovation, driving improved accuracy and robustness.</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 SLAM's far-reaching impact extends to mapping unexplored territories, while ongoing research ensures its pivotal role in shaping the future of robotics and paving the way for increasingly capable and versatile robotic systems.</a:t>
            </a:r>
            <a:endParaRPr lang="en-US" sz="24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8219</Words>
  <Application>WPS Presentation</Application>
  <PresentationFormat>Widescreen</PresentationFormat>
  <Paragraphs>118</Paragraphs>
  <Slides>10</Slides>
  <Notes>0</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10</vt:i4>
      </vt:variant>
    </vt:vector>
  </HeadingPairs>
  <TitlesOfParts>
    <vt:vector size="38" baseType="lpstr">
      <vt:lpstr>Arial</vt:lpstr>
      <vt:lpstr>SimSun</vt:lpstr>
      <vt:lpstr>Wingdings</vt:lpstr>
      <vt:lpstr>Times New Roman</vt:lpstr>
      <vt:lpstr>Microsoft YaHei</vt:lpstr>
      <vt:lpstr>Arial Unicode MS</vt:lpstr>
      <vt:lpstr>Calibri</vt:lpstr>
      <vt:lpstr>Wingdings</vt:lpstr>
      <vt:lpstr>Cambria</vt:lpstr>
      <vt:lpstr>Cascadia Mono</vt:lpstr>
      <vt:lpstr>Bahnschrift</vt:lpstr>
      <vt:lpstr>Bahnschrift Light Condensed</vt:lpstr>
      <vt:lpstr>Bahnschrift SemiBold Condensed</vt:lpstr>
      <vt:lpstr>Calibri Light</vt:lpstr>
      <vt:lpstr>Cambria Math</vt:lpstr>
      <vt:lpstr>Candara</vt:lpstr>
      <vt:lpstr>Cascadia Code Light</vt:lpstr>
      <vt:lpstr>Candara Light</vt:lpstr>
      <vt:lpstr>Cascadia Code ExtraLight</vt:lpstr>
      <vt:lpstr>Cascadia Code</vt:lpstr>
      <vt:lpstr>Courier New</vt:lpstr>
      <vt:lpstr>Corbel Light</vt:lpstr>
      <vt:lpstr>Constantia</vt:lpstr>
      <vt:lpstr>Consolas</vt:lpstr>
      <vt:lpstr>Comic Sans MS</vt:lpstr>
      <vt:lpstr>Gabriola</vt:lpstr>
      <vt:lpstr>Bahnschrift SemiLight Condensed</vt:lpstr>
      <vt:lpstr>Gear Drives</vt:lpstr>
      <vt:lpstr>SLAM ROBOTICS</vt:lpstr>
      <vt:lpstr>INTRODUCTION </vt:lpstr>
      <vt:lpstr>LITERATURE SURVEY</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SLAM ROBOTICS</dc:title>
  <dc:creator/>
  <cp:lastModifiedBy>agnis</cp:lastModifiedBy>
  <cp:revision>4</cp:revision>
  <dcterms:created xsi:type="dcterms:W3CDTF">2023-08-09T04:40:00Z</dcterms:created>
  <dcterms:modified xsi:type="dcterms:W3CDTF">2023-08-09T05:15:05Z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7A92387186C9428680B621D11E40193C</vt:lpwstr>
  </property>
  <property fmtid="{D5CDD505-2E9C-101B-9397-08002B2CF9AE}" pid="3" name="KSOProductBuildVer">
    <vt:lpwstr>1033-11.2.0.11537</vt:lpwstr>
  </property>
</Properties>
</file>